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f2befa36f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f2befa36f_2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f2befa36f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ef2befa36f_2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2befa36f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f2befa36f_2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f2befa36f_2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ef2befa36f_2_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ef2befa36f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ef2befa36f_2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ef2befa36f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ef2befa36f_2_1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f2befa36f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ef2befa36f_2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EEE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01" y="2057400"/>
            <a:ext cx="107286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Качество красного и белого вина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31501" y="2743200"/>
            <a:ext cx="10728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Какие химические свойства определяют качество «Винью Верде»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01" y="3360420"/>
            <a:ext cx="107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Открытый датасет UCI Wine Quality · 6 497 образцов · 11 физико-химических признаков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489" y="5225195"/>
            <a:ext cx="10728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6666"/>
                </a:solidFill>
              </a:rPr>
              <a:t>Токарев Алексей, Мамадалиева Азиза, Лупильцев Георгий, Сеувалов Дмитрий, Петросян Михаил </a:t>
            </a:r>
            <a:r>
              <a:rPr b="0" i="0" lang="en-US" sz="13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· Проект по анализу данных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31501" y="411479"/>
            <a:ext cx="2862072" cy="384048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1.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Постановка задачи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731501" y="96012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Что мы решали</a:t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731501" y="1783080"/>
            <a:ext cx="10728691" cy="822959"/>
          </a:xfrm>
          <a:prstGeom prst="roundRect">
            <a:avLst>
              <a:gd fmla="val 16667" name="adj"/>
            </a:avLst>
          </a:prstGeom>
          <a:solidFill>
            <a:srgbClr val="FAF6F2"/>
          </a:solidFill>
          <a:ln cap="flat" cmpd="sng" w="22225">
            <a:solidFill>
              <a:srgbClr val="7B1E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Главный вопрос: какие химические свойства определяют качество вина?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75335" y="3223260"/>
            <a:ext cx="975335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Дополнительные вопросы: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975335" y="3703320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280127" y="370332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Одинаковы ли важные признаки для красного и белого вина?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75335" y="4251960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280127" y="425196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Можно ли по составу заранее отделить «хорошее» вино от «плохого»?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75335" y="4800600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280127" y="480060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Есть ли признаки, которые дублируют информацию?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731501" y="411479"/>
            <a:ext cx="2267712" cy="384048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1200">
                <a:solidFill>
                  <a:srgbClr val="FFFFFF"/>
                </a:solidFill>
              </a:rPr>
              <a:t>.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Обзор данных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31501" y="96012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Как выглядели данные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75335" y="1920240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1280127" y="192024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1 599 красных + 4 898 белых = 6 497 вин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75335" y="2468879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1280127" y="2468879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11 числовых признаков (кислотность, сахар, спирт, SO₂, pH…)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75335" y="3017520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1280127" y="3017520"/>
            <a:ext cx="9753356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Пропусков нет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975335" y="3566160"/>
            <a:ext cx="36575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280127" y="3566160"/>
            <a:ext cx="9753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Целева</a:t>
            </a:r>
            <a:r>
              <a:rPr lang="en-US" sz="1700">
                <a:solidFill>
                  <a:srgbClr val="333333"/>
                </a:solidFill>
              </a:rPr>
              <a:t>я</a:t>
            </a: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700">
                <a:solidFill>
                  <a:srgbClr val="333333"/>
                </a:solidFill>
              </a:rPr>
              <a:t>-</a:t>
            </a:r>
            <a:r>
              <a:rPr b="0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quality, целое </a:t>
            </a:r>
            <a:r>
              <a:rPr lang="en-US" sz="1700">
                <a:solidFill>
                  <a:srgbClr val="333333"/>
                </a:solidFill>
              </a:rPr>
              <a:t>число от 3 до 9.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31501" y="4389120"/>
            <a:ext cx="6339681" cy="960120"/>
          </a:xfrm>
          <a:prstGeom prst="roundRect">
            <a:avLst>
              <a:gd fmla="val 16667" name="adj"/>
            </a:avLst>
          </a:prstGeom>
          <a:solidFill>
            <a:srgbClr val="FAF6F2"/>
          </a:solidFill>
          <a:ln cap="flat" cmpd="sng" w="22225">
            <a:solidFill>
              <a:srgbClr val="7B1E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Дополнительно искать ничего не пришлось</a:t>
            </a:r>
            <a:r>
              <a:rPr lang="en-US" sz="1500">
                <a:solidFill>
                  <a:srgbClr val="222222"/>
                </a:solidFill>
              </a:rPr>
              <a:t>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839365" y="1920240"/>
            <a:ext cx="34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Распределение quality: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290352" y="2468879"/>
            <a:ext cx="1463003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3–4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265688" y="2468879"/>
            <a:ext cx="219450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~4 %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290352" y="2948940"/>
            <a:ext cx="1463003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5–6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9265688" y="2948940"/>
            <a:ext cx="219450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~76 %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290352" y="3429000"/>
            <a:ext cx="1463003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265688" y="3429000"/>
            <a:ext cx="219450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~16 %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290352" y="3909059"/>
            <a:ext cx="1463003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8–9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9265688" y="3909059"/>
            <a:ext cx="2194505" cy="4114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~3 %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553727" y="4605959"/>
            <a:ext cx="3413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Почти всё </a:t>
            </a:r>
            <a:r>
              <a:rPr lang="en-US" sz="1200">
                <a:solidFill>
                  <a:srgbClr val="888888"/>
                </a:solidFill>
              </a:rPr>
              <a:t>-</a:t>
            </a: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средние вина с </a:t>
            </a:r>
            <a:r>
              <a:rPr lang="en-US" sz="1200">
                <a:solidFill>
                  <a:srgbClr val="888888"/>
                </a:solidFill>
              </a:rPr>
              <a:t>quality</a:t>
            </a:r>
            <a:r>
              <a:rPr b="0" i="0" lang="en-US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5–6.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6"/>
          <p:cNvSpPr/>
          <p:nvPr/>
        </p:nvSpPr>
        <p:spPr>
          <a:xfrm>
            <a:off x="731501" y="411479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200">
                <a:solidFill>
                  <a:srgbClr val="FFFFFF"/>
                </a:solidFill>
              </a:rPr>
              <a:t>.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 сделали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731501" y="960120"/>
            <a:ext cx="107286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Подготовка данных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31501" y="1714500"/>
            <a:ext cx="10728691" cy="754380"/>
          </a:xfrm>
          <a:prstGeom prst="roundRect">
            <a:avLst>
              <a:gd fmla="val 16667" name="adj"/>
            </a:avLst>
          </a:prstGeom>
          <a:solidFill>
            <a:srgbClr val="F3E9E4"/>
          </a:solidFill>
          <a:ln cap="flat" cmpd="sng" w="22225">
            <a:solidFill>
              <a:srgbClr val="7B1E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загрузка red+white → признак type → удаление совпадений → log1p скошенных → выбросы 3σ → удаление мультиколлинеарных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75335" y="3154680"/>
            <a:ext cx="3657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280127" y="3154680"/>
            <a:ext cx="97533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Дубликаты: 1 177 полных совпадений удалены, распределения не изменились 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5 320 строк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975335" y="3909059"/>
            <a:ext cx="3657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280127" y="3909059"/>
            <a:ext cx="9753356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Выбросы: метод 3σ на log-признаках вместо IQR (~2 % вместо ~20 %) → 5 000 строк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975335" y="4663440"/>
            <a:ext cx="365750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80127" y="4663440"/>
            <a:ext cx="9753356" cy="754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Мультиколлинеарность: по VIF и корреляциям убраны 2 дублирующих признака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731501" y="411479"/>
            <a:ext cx="2148840" cy="384048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200">
                <a:solidFill>
                  <a:srgbClr val="FFFFFF"/>
                </a:solidFill>
              </a:rPr>
              <a:t>.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Что сделали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731501" y="960120"/>
            <a:ext cx="1072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Дублирующие признаки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731501" y="2125980"/>
            <a:ext cx="10728691" cy="754380"/>
          </a:xfrm>
          <a:prstGeom prst="roundRect">
            <a:avLst>
              <a:gd fmla="val 16667" name="adj"/>
            </a:avLst>
          </a:prstGeom>
          <a:solidFill>
            <a:srgbClr val="FAF6F2"/>
          </a:solidFill>
          <a:ln cap="flat" cmpd="sng" w="22225">
            <a:solidFill>
              <a:srgbClr val="7B1E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density </a:t>
            </a:r>
            <a:r>
              <a:rPr lang="en-US" sz="1600">
                <a:solidFill>
                  <a:srgbClr val="222222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мультиколлинеарен с alcohol и residual sugar, наибольший VIF ≈ 14.6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731501" y="3223260"/>
            <a:ext cx="10728691" cy="754380"/>
          </a:xfrm>
          <a:prstGeom prst="roundRect">
            <a:avLst>
              <a:gd fmla="val 16667" name="adj"/>
            </a:avLst>
          </a:prstGeom>
          <a:solidFill>
            <a:srgbClr val="FAF6F2"/>
          </a:solidFill>
          <a:ln cap="flat" cmpd="sng" w="22225">
            <a:solidFill>
              <a:srgbClr val="7B1E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total sulfur dioxide </a:t>
            </a:r>
            <a:r>
              <a:rPr lang="en-US" sz="1600">
                <a:solidFill>
                  <a:srgbClr val="222222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почти дублирует free sulfur dioxide (оставили более информативный)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731501" y="4526280"/>
            <a:ext cx="10728691" cy="960120"/>
          </a:xfrm>
          <a:prstGeom prst="roundRect">
            <a:avLst>
              <a:gd fmla="val 16667" name="adj"/>
            </a:avLst>
          </a:prstGeom>
          <a:solidFill>
            <a:srgbClr val="EEF5EE"/>
          </a:solidFill>
          <a:ln cap="flat" cmpd="sng" w="22225">
            <a:solidFill>
              <a:srgbClr val="55A8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3344"/>
                </a:solidFill>
              </a:rPr>
              <a:t>Ч</a:t>
            </a:r>
            <a:r>
              <a:rPr b="0" i="0" lang="en-US" sz="1600" u="none" cap="none" strike="noStrike">
                <a:solidFill>
                  <a:srgbClr val="223344"/>
                </a:solidFill>
                <a:latin typeface="Arial"/>
                <a:ea typeface="Arial"/>
                <a:cs typeface="Arial"/>
                <a:sym typeface="Arial"/>
              </a:rPr>
              <a:t>асть признаков дублирует информацию. Оба удалены до моделирования</a:t>
            </a:r>
            <a:r>
              <a:rPr lang="en-US" sz="1600">
                <a:solidFill>
                  <a:srgbClr val="223344"/>
                </a:solidFill>
              </a:rPr>
              <a:t>, </a:t>
            </a:r>
            <a:r>
              <a:rPr b="0" i="0" lang="en-US" sz="1600" u="none" cap="none" strike="noStrike">
                <a:solidFill>
                  <a:srgbClr val="223344"/>
                </a:solidFill>
                <a:latin typeface="Arial"/>
                <a:ea typeface="Arial"/>
                <a:cs typeface="Arial"/>
                <a:sym typeface="Arial"/>
              </a:rPr>
              <a:t>их вклад уже </a:t>
            </a:r>
            <a:r>
              <a:rPr lang="en-US" sz="1600">
                <a:solidFill>
                  <a:srgbClr val="223344"/>
                </a:solidFill>
              </a:rPr>
              <a:t>зашит </a:t>
            </a:r>
            <a:r>
              <a:rPr b="0" i="0" lang="en-US" sz="1600" u="none" cap="none" strike="noStrike">
                <a:solidFill>
                  <a:srgbClr val="223344"/>
                </a:solidFill>
                <a:latin typeface="Arial"/>
                <a:ea typeface="Arial"/>
                <a:cs typeface="Arial"/>
                <a:sym typeface="Arial"/>
              </a:rPr>
              <a:t>в оставшихся признаках.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8"/>
          <p:cNvSpPr/>
          <p:nvPr/>
        </p:nvSpPr>
        <p:spPr>
          <a:xfrm>
            <a:off x="731501" y="411479"/>
            <a:ext cx="2148900" cy="384000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200">
                <a:solidFill>
                  <a:srgbClr val="FFFFFF"/>
                </a:solidFill>
              </a:rPr>
              <a:t>.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Что сделали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731501" y="960120"/>
            <a:ext cx="1072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Красное vs белое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975335" y="1783080"/>
            <a:ext cx="1048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Сравнили распределения (Манна</a:t>
            </a:r>
            <a:r>
              <a:rPr lang="en-US" sz="1500">
                <a:solidFill>
                  <a:srgbClr val="222222"/>
                </a:solidFill>
              </a:rPr>
              <a:t>-</a:t>
            </a: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Уитни) и связь с quality (Пирсон) по типам.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75335" y="2468879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280127" y="2468879"/>
            <a:ext cx="975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Все 11 признаков значимо различаются между типами (p &lt; 0.05)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75335" y="301752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280127" y="3017520"/>
            <a:ext cx="975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333333"/>
                </a:solidFill>
              </a:rPr>
              <a:t>Основной параметр влияющий на итоговую оценку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качества </a:t>
            </a:r>
            <a:r>
              <a:rPr lang="en-US" sz="1600">
                <a:solidFill>
                  <a:srgbClr val="333333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alcohol (+0.53 / +0.46)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75335" y="356616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1280127" y="3566160"/>
            <a:ext cx="9753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У красного важны sulphates, volatile acidity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75335" y="411480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1280127" y="4114800"/>
            <a:ext cx="975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У белого </a:t>
            </a:r>
            <a:r>
              <a:rPr lang="en-US" sz="1600">
                <a:solidFill>
                  <a:srgbClr val="333333"/>
                </a:solidFill>
              </a:rPr>
              <a:t>- </a:t>
            </a: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chlorides, pH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31501" y="4937759"/>
            <a:ext cx="10728600" cy="960000"/>
          </a:xfrm>
          <a:prstGeom prst="roundRect">
            <a:avLst>
              <a:gd fmla="val 16667" name="adj"/>
            </a:avLst>
          </a:prstGeom>
          <a:solidFill>
            <a:srgbClr val="EEF5EE"/>
          </a:solidFill>
          <a:ln cap="flat" cmpd="sng" w="22225">
            <a:solidFill>
              <a:srgbClr val="55A86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22222"/>
                </a:solidFill>
              </a:rPr>
              <a:t>Е</a:t>
            </a: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диной химической формулы качества нет. Общий у двух типов только спирт,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остальные </a:t>
            </a:r>
            <a:r>
              <a:rPr lang="en-US" sz="1500">
                <a:solidFill>
                  <a:srgbClr val="222222"/>
                </a:solidFill>
              </a:rPr>
              <a:t>параметры </a:t>
            </a: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различаются </a:t>
            </a:r>
            <a:r>
              <a:rPr lang="en-US" sz="1500">
                <a:solidFill>
                  <a:srgbClr val="222222"/>
                </a:solidFill>
              </a:rPr>
              <a:t>-</a:t>
            </a:r>
            <a:r>
              <a:rPr b="0" i="0" lang="en-US" sz="15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иногда даже по знаку.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731501" y="411479"/>
            <a:ext cx="2148900" cy="384000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200">
                <a:solidFill>
                  <a:srgbClr val="FFFFFF"/>
                </a:solidFill>
              </a:rPr>
              <a:t>.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Что сделали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31501" y="960120"/>
            <a:ext cx="1072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Влияние свойств на quality: red vs white</a:t>
            </a:r>
            <a:endParaRPr/>
          </a:p>
        </p:txBody>
      </p:sp>
      <p:pic>
        <p:nvPicPr>
          <p:cNvPr descr="corr_quality_red.png" id="171" name="Google Shape;17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673469"/>
            <a:ext cx="5608178" cy="42403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r_quality_white.png" id="172" name="Google Shape;17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99014" y="1673469"/>
            <a:ext cx="5608178" cy="4240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F7F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/>
          <p:nvPr/>
        </p:nvSpPr>
        <p:spPr>
          <a:xfrm>
            <a:off x="731501" y="411479"/>
            <a:ext cx="4645200" cy="384000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200">
                <a:solidFill>
                  <a:srgbClr val="FFFFFF"/>
                </a:solidFill>
              </a:rPr>
              <a:t>.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Что сделали</a:t>
            </a:r>
            <a:endParaRPr/>
          </a:p>
        </p:txBody>
      </p:sp>
      <p:sp>
        <p:nvSpPr>
          <p:cNvPr id="178" name="Google Shape;178;p20"/>
          <p:cNvSpPr txBox="1"/>
          <p:nvPr/>
        </p:nvSpPr>
        <p:spPr>
          <a:xfrm>
            <a:off x="731501" y="960120"/>
            <a:ext cx="1072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Что определяет качество вина</a:t>
            </a:r>
            <a:endParaRPr/>
          </a:p>
        </p:txBody>
      </p:sp>
      <p:pic>
        <p:nvPicPr>
          <p:cNvPr descr="final_importance.png" id="179" name="Google Shape;17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967" y="1613525"/>
            <a:ext cx="6339682" cy="49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 txBox="1"/>
          <p:nvPr/>
        </p:nvSpPr>
        <p:spPr>
          <a:xfrm>
            <a:off x="7315017" y="1926380"/>
            <a:ext cx="2194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5A868"/>
                </a:solidFill>
                <a:latin typeface="Arial"/>
                <a:ea typeface="Arial"/>
                <a:cs typeface="Arial"/>
                <a:sym typeface="Arial"/>
              </a:rPr>
              <a:t>▲ alcohol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9174522" y="1980235"/>
            <a:ext cx="2194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главный «+»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7315017" y="2502945"/>
            <a:ext cx="438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44E52"/>
                </a:solidFill>
                <a:latin typeface="Arial"/>
                <a:ea typeface="Arial"/>
                <a:cs typeface="Arial"/>
                <a:sym typeface="Arial"/>
              </a:rPr>
              <a:t>▼ volatile acidity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7315017" y="3079535"/>
            <a:ext cx="4389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C44E52"/>
                </a:solidFill>
                <a:latin typeface="Arial"/>
                <a:ea typeface="Arial"/>
                <a:cs typeface="Arial"/>
                <a:sym typeface="Arial"/>
              </a:rPr>
              <a:t>▼ chlorides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7315017" y="3862805"/>
            <a:ext cx="438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Тип вина (red/white) на качество почти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не влияет</a:t>
            </a:r>
            <a:r>
              <a:rPr lang="en-US" sz="1300">
                <a:solidFill>
                  <a:srgbClr val="888888"/>
                </a:solidFill>
              </a:rPr>
              <a:t>.</a:t>
            </a: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0">
                <a:solidFill>
                  <a:srgbClr val="888888"/>
                </a:solidFill>
              </a:rPr>
              <a:t>В</a:t>
            </a: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ажна химия, а не цвет.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731501" y="411479"/>
            <a:ext cx="2148900" cy="384000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200">
                <a:solidFill>
                  <a:srgbClr val="FFFFFF"/>
                </a:solidFill>
              </a:rPr>
              <a:t>.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Что сделали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731501" y="960120"/>
            <a:ext cx="1072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Отделимо ли хорошее от плохог</a:t>
            </a:r>
            <a:r>
              <a:rPr b="1" lang="en-US" sz="3000">
                <a:solidFill>
                  <a:srgbClr val="7B1E2B"/>
                </a:solidFill>
              </a:rPr>
              <a:t>о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853418" y="192024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2" name="Google Shape;192;p21"/>
          <p:cNvSpPr txBox="1"/>
          <p:nvPr/>
        </p:nvSpPr>
        <p:spPr>
          <a:xfrm>
            <a:off x="1158211" y="1920240"/>
            <a:ext cx="987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quality ≥ 7 = «хорошее» (меньшинство ~19 %)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53418" y="2468879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1158211" y="2468879"/>
            <a:ext cx="987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Модели: LogReg, RandomForest, GBM + бустинги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53418" y="301752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158211" y="3017520"/>
            <a:ext cx="987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Лучшая — RandomForest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853418" y="356616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158211" y="3566160"/>
            <a:ext cx="987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ROC-AUC ≈ 0.85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853418" y="4114800"/>
            <a:ext cx="365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1158211" y="4114800"/>
            <a:ext cx="9875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PR-AUC ≈ 0.55 при базовой линии 0.19</a:t>
            </a:r>
            <a:endParaRPr/>
          </a:p>
        </p:txBody>
      </p:sp>
      <p:pic>
        <p:nvPicPr>
          <p:cNvPr descr="roc_pr_curves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850" y="1783075"/>
            <a:ext cx="6282825" cy="3771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B1E2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2"/>
          <p:cNvSpPr/>
          <p:nvPr/>
        </p:nvSpPr>
        <p:spPr>
          <a:xfrm>
            <a:off x="731501" y="411479"/>
            <a:ext cx="2743200" cy="384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1200">
                <a:solidFill>
                  <a:srgbClr val="7B1E2B"/>
                </a:solidFill>
              </a:rPr>
              <a:t>.</a:t>
            </a:r>
            <a:r>
              <a:rPr b="1" i="0" lang="en-US" sz="12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 Финальные выводы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31501" y="960120"/>
            <a:ext cx="1072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Ответ на главный вопрос</a:t>
            </a:r>
            <a:endParaRPr/>
          </a:p>
        </p:txBody>
      </p:sp>
      <p:sp>
        <p:nvSpPr>
          <p:cNvPr id="208" name="Google Shape;208;p22"/>
          <p:cNvSpPr/>
          <p:nvPr/>
        </p:nvSpPr>
        <p:spPr>
          <a:xfrm>
            <a:off x="731501" y="2057400"/>
            <a:ext cx="10728600" cy="3154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22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1219169" y="2468879"/>
            <a:ext cx="10241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Качество «Винью Верде» определяют три химических свойства: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219169" y="3360420"/>
            <a:ext cx="438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55A868"/>
                </a:solidFill>
                <a:latin typeface="Arial"/>
                <a:ea typeface="Arial"/>
                <a:cs typeface="Arial"/>
                <a:sym typeface="Arial"/>
              </a:rPr>
              <a:t>высокая крепость (alcohol)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460246" y="3512545"/>
            <a:ext cx="487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217764" y="3360420"/>
            <a:ext cx="52425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44E52"/>
                </a:solidFill>
                <a:latin typeface="Arial"/>
                <a:ea typeface="Arial"/>
                <a:cs typeface="Arial"/>
                <a:sym typeface="Arial"/>
              </a:rPr>
              <a:t>низкая летучая кислотность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4432394" y="3949039"/>
            <a:ext cx="60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C44E52"/>
                </a:solidFill>
                <a:latin typeface="Arial"/>
                <a:ea typeface="Arial"/>
                <a:cs typeface="Arial"/>
                <a:sym typeface="Arial"/>
              </a:rPr>
              <a:t>  мало хлоридов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2750519" y="4526280"/>
            <a:ext cx="10241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Результат устойчив</a:t>
            </a:r>
            <a:r>
              <a:rPr lang="en-US" sz="1300">
                <a:solidFill>
                  <a:srgbClr val="888888"/>
                </a:solidFill>
              </a:rPr>
              <a:t>,</a:t>
            </a:r>
            <a:r>
              <a:rPr b="0" i="0" lang="en-US" sz="13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 подтверждён четырьмя методами оценки важности.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731501" y="411479"/>
            <a:ext cx="2743200" cy="384000"/>
          </a:xfrm>
          <a:prstGeom prst="roundRect">
            <a:avLst>
              <a:gd fmla="val 16667" name="adj"/>
            </a:avLst>
          </a:prstGeom>
          <a:solidFill>
            <a:srgbClr val="7B1E2B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25400" lIns="101600" spcFirstLastPara="1" rIns="1016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1200">
                <a:solidFill>
                  <a:srgbClr val="FFFFFF"/>
                </a:solidFill>
              </a:rPr>
              <a:t>.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Финальные выводы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731501" y="960120"/>
            <a:ext cx="10728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Ответы на дополнительные вопросы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53418" y="1920240"/>
            <a:ext cx="107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▸ Одинаковы ли признаки для red и white?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1219169" y="2228850"/>
            <a:ext cx="10485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Частично. </a:t>
            </a:r>
            <a:r>
              <a:rPr lang="en-US" sz="1300">
                <a:solidFill>
                  <a:srgbClr val="333333"/>
                </a:solidFill>
              </a:rPr>
              <a:t>Основной - </a:t>
            </a: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alcohol. Дальше: red → sulphates, volatile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acidity; white → chlorides, pH. Единой формулы нет.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853418" y="3086100"/>
            <a:ext cx="107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▸ Можно ли заранее отделить хорошее от плохого?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219169" y="3394710"/>
            <a:ext cx="1048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Да, но не идеально: ROC-AUC ≈ 0.85. Часть оценки не сводится к химии.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853418" y="4251960"/>
            <a:ext cx="10728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▸ Есть ли дублирующие признаки?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1219169" y="4560570"/>
            <a:ext cx="1048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Да: density (VIF ≈ 14.6) и total sulfur dioxide. Удалены до модели.</a:t>
            </a:r>
            <a:endParaRPr/>
          </a:p>
        </p:txBody>
      </p:sp>
      <p:sp>
        <p:nvSpPr>
          <p:cNvPr id="227" name="Google Shape;227;p23"/>
          <p:cNvSpPr/>
          <p:nvPr/>
        </p:nvSpPr>
        <p:spPr>
          <a:xfrm>
            <a:off x="731539" y="5285105"/>
            <a:ext cx="10728600" cy="754500"/>
          </a:xfrm>
          <a:prstGeom prst="roundRect">
            <a:avLst>
              <a:gd fmla="val 16667" name="adj"/>
            </a:avLst>
          </a:prstGeom>
          <a:solidFill>
            <a:srgbClr val="F3E9E4"/>
          </a:solidFill>
          <a:ln cap="flat" cmpd="sng" w="22225">
            <a:solidFill>
              <a:srgbClr val="7B1E2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177800" spcFirstLastPara="1" rIns="1778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Лучшее «Винью Верде» = высокая крепость + низкая летучая кислотность + мало хлоридов.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BEEE6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"/>
          <p:cNvSpPr txBox="1"/>
          <p:nvPr/>
        </p:nvSpPr>
        <p:spPr>
          <a:xfrm>
            <a:off x="731539" y="2811904"/>
            <a:ext cx="10728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7B1E2B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